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D2DC"/>
            </a:solidFill>
            <a:ln>
              <a:solidFill>
                <a:srgbClr val="3ED2DC"/>
              </a:solidFill>
            </a:ln>
          </c:spPr>
          <c:invertIfNegative val="1"/>
          <c:cat>
            <c:strRef>
              <c:f>Sheet1!$A$2:$A$3</c:f>
              <c:strCache>
                <c:ptCount val="2"/>
                <c:pt idx="0">
                  <c:v>Late</c:v>
                </c:pt>
                <c:pt idx="1">
                  <c:v>Non-late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56.13</c:v>
                </c:pt>
                <c:pt idx="1">
                  <c:v>43.87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ED2D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40C-4A5D-8889-5AF16F292C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FBED7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334565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FBED7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D2DC"/>
            </a:solidFill>
            <a:ln>
              <a:solidFill>
                <a:srgbClr val="3ED2DC"/>
              </a:solidFill>
            </a:ln>
          </c:spPr>
          <c:invertIfNegative val="1"/>
          <c:cat>
            <c:strRef>
              <c:f>Sheet1!$A$2:$A$8</c:f>
              <c:strCache>
                <c:ptCount val="7"/>
                <c:pt idx="0">
                  <c:v>−2</c:v>
                </c:pt>
                <c:pt idx="1">
                  <c:v>−1</c:v>
                </c:pt>
                <c:pt idx="2">
                  <c:v>0</c:v>
                </c:pt>
                <c:pt idx="3">
                  <c:v>+1</c:v>
                </c:pt>
                <c:pt idx="4">
                  <c:v>+2</c:v>
                </c:pt>
                <c:pt idx="5">
                  <c:v>+3</c:v>
                </c:pt>
                <c:pt idx="6">
                  <c:v>+4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12.3</c:v>
                </c:pt>
                <c:pt idx="1">
                  <c:v>12.1</c:v>
                </c:pt>
                <c:pt idx="2">
                  <c:v>19.399999999999999</c:v>
                </c:pt>
                <c:pt idx="3">
                  <c:v>34.4</c:v>
                </c:pt>
                <c:pt idx="4">
                  <c:v>15.4</c:v>
                </c:pt>
                <c:pt idx="5">
                  <c:v>3.2</c:v>
                </c:pt>
                <c:pt idx="6">
                  <c:v>3.2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ED2D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D7F-446C-9006-DCEE33F447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FBED7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334565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FBED7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10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ED2DC"/>
            </a:solidFill>
            <a:ln>
              <a:solidFill>
                <a:srgbClr val="3ED2DC"/>
              </a:solidFill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First Class</c:v>
                </c:pt>
                <c:pt idx="1">
                  <c:v>Cash</c:v>
                </c:pt>
                <c:pt idx="2">
                  <c:v>Technology</c:v>
                </c:pt>
                <c:pt idx="3">
                  <c:v>August</c:v>
                </c:pt>
                <c:pt idx="4">
                  <c:v>Tuesday</c:v>
                </c:pt>
                <c:pt idx="5">
                  <c:v>20:00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72.3</c:v>
                </c:pt>
                <c:pt idx="2">
                  <c:v>71.2</c:v>
                </c:pt>
                <c:pt idx="3">
                  <c:v>62.7</c:v>
                </c:pt>
                <c:pt idx="4">
                  <c:v>58</c:v>
                </c:pt>
                <c:pt idx="5">
                  <c:v>62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3ED2D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872-4547-8267-88BCA3470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FBED7"/>
                </a:solidFill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>
              <a:solidFill>
                <a:srgbClr val="334565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AFBED7"/>
                </a:solidFill>
                <a:latin typeface="Apto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777240"/>
            <a:ext cx="621792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3ED2DC"/>
                </a:solidFill>
                <a:latin typeface="Aptos"/>
              </a:rPr>
              <a:t>SUPPLY CHAIN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949440" cy="22860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3500" b="1" dirty="0">
                <a:solidFill>
                  <a:srgbClr val="F5F8FF"/>
                </a:solidFill>
                <a:latin typeface="Aptos"/>
              </a:rPr>
              <a:t>Order Delivery,
Shipping Delays
&amp;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6126480" cy="82296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700" b="0">
                <a:solidFill>
                  <a:srgbClr val="AFBED7"/>
                </a:solidFill>
                <a:latin typeface="Aptos"/>
              </a:rPr>
              <a:t>A data-driven investigation of delivery performance,
operational patterns, and profit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663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202936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0A142B"/>
                </a:solidFill>
                <a:latin typeface="Aptos"/>
              </a:rPr>
              <a:t>PROJECT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709160"/>
            <a:ext cx="2560320" cy="5486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F5F8FF"/>
                </a:solidFill>
                <a:latin typeface="Aptos"/>
              </a:rPr>
              <a:t>DATA ANALYSIS  •  BUSINESS INSIGHTS  • 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486400"/>
            <a:ext cx="228600" cy="411480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08592" y="5257800"/>
            <a:ext cx="228600" cy="640080"/>
          </a:xfrm>
          <a:prstGeom prst="roundRect">
            <a:avLst>
              <a:gd name="adj" fmla="val 10000"/>
            </a:avLst>
          </a:prstGeom>
          <a:solidFill>
            <a:srgbClr val="5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47504" y="5394960"/>
            <a:ext cx="228600" cy="502920"/>
          </a:xfrm>
          <a:prstGeom prst="roundRect">
            <a:avLst>
              <a:gd name="adj" fmla="val 10000"/>
            </a:avLst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86415" y="5029200"/>
            <a:ext cx="228600" cy="868680"/>
          </a:xfrm>
          <a:prstGeom prst="roundRect">
            <a:avLst>
              <a:gd name="adj" fmla="val 10000"/>
            </a:avLst>
          </a:prstGeom>
          <a:solidFill>
            <a:srgbClr val="5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25328" y="5303520"/>
            <a:ext cx="228600" cy="594360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01 •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698480" cy="43891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500" b="0">
                <a:solidFill>
                  <a:srgbClr val="AFBED7"/>
                </a:solidFill>
                <a:latin typeface="Aptos"/>
              </a:rPr>
              <a:t>Updated to match the latest notebook KPI output.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606040" cy="1353312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2011680"/>
            <a:ext cx="64008" cy="1353312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084832"/>
            <a:ext cx="2331720" cy="47548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3ED2DC"/>
                </a:solidFill>
                <a:latin typeface="Aptos"/>
              </a:rPr>
              <a:t>34,727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87752"/>
            <a:ext cx="2331720" cy="34747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Orders analyzed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71800"/>
            <a:ext cx="233172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AFBED7"/>
                </a:solidFill>
                <a:latin typeface="Aptos"/>
              </a:rPr>
              <a:t>After current notebook filter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2011680"/>
            <a:ext cx="2606040" cy="1353312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56432" y="2011680"/>
            <a:ext cx="64008" cy="1353312"/>
          </a:xfrm>
          <a:prstGeom prst="roundRect">
            <a:avLst>
              <a:gd name="adj" fmla="val 10000"/>
            </a:avLst>
          </a:prstGeom>
          <a:solidFill>
            <a:srgbClr val="FF7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2084832"/>
            <a:ext cx="2331720" cy="47548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707D"/>
                </a:solidFill>
                <a:latin typeface="Aptos"/>
              </a:rPr>
              <a:t>56.13%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87752"/>
            <a:ext cx="2331720" cy="34747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Late delivery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971800"/>
            <a:ext cx="233172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AFBED7"/>
                </a:solidFill>
                <a:latin typeface="Aptos"/>
              </a:rPr>
              <a:t>Calculated delay &gt;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2011680"/>
            <a:ext cx="2606040" cy="1353312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54496" y="2011680"/>
            <a:ext cx="64008" cy="1353312"/>
          </a:xfrm>
          <a:prstGeom prst="roundRect">
            <a:avLst>
              <a:gd name="adj" fmla="val 10000"/>
            </a:avLst>
          </a:prstGeom>
          <a:solidFill>
            <a:srgbClr val="59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2084832"/>
            <a:ext cx="2331720" cy="47548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59DCA5"/>
                </a:solidFill>
                <a:latin typeface="Aptos"/>
              </a:rPr>
              <a:t>43.87%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587752"/>
            <a:ext cx="2331720" cy="34747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Non-late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971800"/>
            <a:ext cx="233172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AFBED7"/>
                </a:solidFill>
                <a:latin typeface="Aptos"/>
              </a:rPr>
              <a:t>Includes early 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011680"/>
            <a:ext cx="2468880" cy="1353312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52560" y="2011680"/>
            <a:ext cx="64008" cy="1353312"/>
          </a:xfrm>
          <a:prstGeom prst="roundRect">
            <a:avLst>
              <a:gd name="adj" fmla="val 10000"/>
            </a:avLst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2084832"/>
            <a:ext cx="2194560" cy="47548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600" b="1">
                <a:solidFill>
                  <a:srgbClr val="FFBE5A"/>
                </a:solidFill>
                <a:latin typeface="Aptos"/>
              </a:rPr>
              <a:t>$1.5M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87752"/>
            <a:ext cx="2194560" cy="34747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Positive profit total*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971800"/>
            <a:ext cx="219456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AFBED7"/>
                </a:solidFill>
                <a:latin typeface="Aptos"/>
              </a:rPr>
              <a:t>Notebook-reported, rounded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49039"/>
            <a:ext cx="10863072" cy="1572768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977639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3ED2DC"/>
                </a:solidFill>
                <a:latin typeface="Aptos"/>
              </a:rPr>
              <a:t>HEADLINE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886200"/>
            <a:ext cx="8321040" cy="10972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More than half of the analyzed orders are classified as late by the notebook’s calculated delay metric. Investigate scheduling and segment differences, then validate causes before changing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02 •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Project Scope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5303520" cy="443484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3ED2DC"/>
                </a:solidFill>
                <a:latin typeface="Aptos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617720" cy="32004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 dirty="0"/>
              <a:t>•  Measure delivery timeliness and delay distribution.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 dirty="0"/>
              <a:t>•  Compare patterns across regions, shipping classes, departments, and time periods.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 dirty="0"/>
              <a:t>•  Explore how delay levels relate to order-level profit.</a:t>
            </a:r>
          </a:p>
          <a:p>
            <a:pPr>
              <a:spcAft>
                <a:spcPts val="10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rPr dirty="0"/>
              <a:t>•  Translate findings into practical questions and improvement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5321808" cy="443484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18288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3ED2DC"/>
                </a:solidFill>
                <a:latin typeface="Aptos"/>
              </a:rPr>
              <a:t>DATA &amp;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48840"/>
            <a:ext cx="4617720" cy="2200602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F5F8FF"/>
                </a:solidFill>
                <a:latin typeface="Aptos"/>
              </a:rPr>
              <a:t>•  Source: DataCoSupplyChainDataset.csv.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F5F8FF"/>
                </a:solidFill>
                <a:latin typeface="Aptos"/>
              </a:rPr>
              <a:t>•  Initial dataset shown in notebook: 35,768 rows.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F5F8FF"/>
                </a:solidFill>
                <a:latin typeface="Aptos"/>
              </a:rPr>
              <a:t>•  Current KPI dataset: 34,727 orders after the notebook’s filter.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F5F8FF"/>
                </a:solidFill>
                <a:latin typeface="Aptos"/>
              </a:rPr>
              <a:t>•  Fields include dates, scheduled/real shipping days, region, shipping mode, department, and Order Profit Per Order.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03 • FROM RAW DATA TO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Analytical Methodology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2029968" cy="25603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057400"/>
            <a:ext cx="54864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300" b="1">
                <a:solidFill>
                  <a:srgbClr val="3ED2D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70048"/>
            <a:ext cx="1691640" cy="5486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Load &amp; inspect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337560"/>
            <a:ext cx="1691640" cy="8686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Review shape, fields, and data quality.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3ED2D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874519"/>
            <a:ext cx="2029968" cy="25603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63824" y="2057400"/>
            <a:ext cx="54864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300" b="1">
                <a:solidFill>
                  <a:srgbClr val="3ED2D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3824" y="2670048"/>
            <a:ext cx="1691640" cy="5486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Clean &amp; 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3337560"/>
            <a:ext cx="1691640" cy="8686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AFBED7"/>
                </a:solidFill>
                <a:latin typeface="Aptos"/>
              </a:rPr>
              <a:t>Parse dates; filter cancelled shipments.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78892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3ED2DC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85232" y="1874519"/>
            <a:ext cx="2029968" cy="25603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9824" y="2057400"/>
            <a:ext cx="54864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300" b="1">
                <a:solidFill>
                  <a:srgbClr val="3ED2D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670048"/>
            <a:ext cx="1691640" cy="5486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Engineer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337560"/>
            <a:ext cx="1691640" cy="8686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Calculate processing time, delay, late flag, and time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8892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3ED2D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1874519"/>
            <a:ext cx="2029968" cy="25603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35823" y="2057400"/>
            <a:ext cx="54864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300" b="1">
                <a:solidFill>
                  <a:srgbClr val="3ED2DC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3" y="2670048"/>
            <a:ext cx="1691640" cy="5486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Explore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3" y="3337560"/>
            <a:ext cx="1691640" cy="8686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AFBED7"/>
                </a:solidFill>
                <a:latin typeface="Aptos"/>
              </a:rPr>
              <a:t>Summarize KPIs and compare groups.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788920"/>
            <a:ext cx="2286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ctr"/>
            <a:r>
              <a:rPr sz="1900" b="1">
                <a:solidFill>
                  <a:srgbClr val="3ED2DC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57232" y="1874519"/>
            <a:ext cx="2029968" cy="25603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21824" y="2057400"/>
            <a:ext cx="54864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300" b="1">
                <a:solidFill>
                  <a:srgbClr val="3ED2DC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21824" y="2670048"/>
            <a:ext cx="1691640" cy="5486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Interpret carefully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1824" y="3337560"/>
            <a:ext cx="1691640" cy="86868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100" b="0" dirty="0">
                <a:solidFill>
                  <a:srgbClr val="AFBED7"/>
                </a:solidFill>
                <a:latin typeface="Aptos"/>
              </a:rPr>
              <a:t>Separate metrics from proxies; document limitations.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892040"/>
            <a:ext cx="10652760" cy="777240"/>
          </a:xfrm>
          <a:prstGeom prst="roundRect">
            <a:avLst>
              <a:gd name="adj" fmla="val 10000"/>
            </a:avLst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056632"/>
            <a:ext cx="10058400" cy="4114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CORE CALCULATION:  Delay = (Shipping Date − Order Date, in days) − Scheduled Shipment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04 • TIMELINESS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Delivery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6720840" cy="45262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30352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Share of orders by calculated status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60120" y="2057400"/>
          <a:ext cx="60807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35240" y="1463040"/>
            <a:ext cx="3886200" cy="20116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36992" y="1737360"/>
            <a:ext cx="3108960" cy="59436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3100" b="1">
                <a:solidFill>
                  <a:srgbClr val="FF707D"/>
                </a:solidFill>
                <a:latin typeface="Aptos"/>
              </a:rPr>
              <a:t>19,491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359152"/>
            <a:ext cx="310896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Orders classified as 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657600"/>
            <a:ext cx="3886200" cy="23317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3886200"/>
            <a:ext cx="310896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3ED2DC"/>
                </a:solidFill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4315968"/>
            <a:ext cx="3108960" cy="114300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300" b="0">
                <a:solidFill>
                  <a:srgbClr val="AFBED7"/>
                </a:solidFill>
                <a:latin typeface="Aptos"/>
              </a:rPr>
              <a:t>56.13% is calculated using Delay &gt; 0. The 43.87% non-late group includes both on-schedule and early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05 • DIFFERENCE FROM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Delay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7315200" cy="45262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621792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F5F8FF"/>
                </a:solidFill>
                <a:latin typeface="Aptos"/>
              </a:rPr>
              <a:t>Share of orders by delay (days)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498582"/>
              </p:ext>
            </p:extLst>
          </p:nvPr>
        </p:nvGraphicFramePr>
        <p:xfrm>
          <a:off x="896112" y="2029968"/>
          <a:ext cx="67208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47888" y="1463040"/>
            <a:ext cx="3273552" cy="20116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1755648"/>
            <a:ext cx="265176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FBE5A"/>
                </a:solidFill>
                <a:latin typeface="Aptos"/>
              </a:rPr>
              <a:t>+1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377440"/>
            <a:ext cx="2560320" cy="59436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Largest single delay category*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3657600"/>
            <a:ext cx="3273552" cy="233172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3886200"/>
            <a:ext cx="256032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3ED2DC"/>
                </a:solidFill>
                <a:latin typeface="Aptos"/>
              </a:rPr>
              <a:t>WHAT STANDS OUT?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315968"/>
            <a:ext cx="2560320" cy="12344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In the earlier reviewed delay breakdown, +1 day represented 30.14%. Recalculate this distribution on the current 34,727-order dataset before treating it as current.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06 • SEGMENT COMPARISONS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Where Delays May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6629400" cy="45262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852160" cy="36576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F5F8FF"/>
                </a:solidFill>
                <a:latin typeface="Aptos"/>
              </a:rPr>
              <a:t>Previously observed segment rates — revalidate on current data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96112" y="2148840"/>
          <a:ext cx="61264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543800" y="1463040"/>
            <a:ext cx="3977639" cy="45262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45552" y="1737360"/>
            <a:ext cx="3200400" cy="34747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3ED2DC"/>
                </a:solidFill>
                <a:latin typeface="Aptos"/>
              </a:rPr>
              <a:t>REGIONAL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2194560"/>
            <a:ext cx="3108960" cy="228600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Northern Europe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East Africa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Southern Europe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East of USA</a:t>
            </a:r>
          </a:p>
          <a:p>
            <a:pPr>
              <a:spcAft>
                <a:spcPts val="1000"/>
              </a:spcAft>
              <a:defRPr sz="1400">
                <a:solidFill>
                  <a:srgbClr val="F5F8FF"/>
                </a:solidFill>
                <a:latin typeface="Aptos"/>
              </a:defRPr>
            </a:pPr>
            <a:r>
              <a:t>•  Central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4754880"/>
            <a:ext cx="3154680" cy="96012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000" b="0">
                <a:solidFill>
                  <a:srgbClr val="AFBED7"/>
                </a:solidFill>
                <a:latin typeface="Aptos"/>
              </a:rPr>
              <a:t>These figures come from the earlier analysis and are included as leads to investigate. Recompute segment rates and group sizes using the latest filtered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07 • FINANCIAL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Profitability &amp; Delay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5257800" cy="192024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2286000" cy="5486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900" b="1">
                <a:solidFill>
                  <a:srgbClr val="FFBE5A"/>
                </a:solidFill>
                <a:latin typeface="Aptos"/>
              </a:rP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480560" cy="4114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Notebook-reported profit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70632"/>
            <a:ext cx="448056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AFBED7"/>
                </a:solidFill>
                <a:latin typeface="Aptos"/>
              </a:rPr>
              <a:t>Confirm aggregation logic before naming it net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63040"/>
            <a:ext cx="5349240" cy="192024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719072"/>
            <a:ext cx="2468880" cy="5486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900" b="1">
                <a:solidFill>
                  <a:srgbClr val="FF707D"/>
                </a:solidFill>
                <a:latin typeface="Aptos"/>
              </a:rPr>
              <a:t>$410.7K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31720"/>
            <a:ext cx="4480560" cy="4114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Notebook-reported delayed-order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770632"/>
            <a:ext cx="448056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AFBED7"/>
                </a:solidFill>
                <a:latin typeface="Aptos"/>
              </a:rPr>
              <a:t>Not a validated estimate of loss caused by delays.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57600"/>
            <a:ext cx="10863072" cy="2240280"/>
          </a:xfrm>
          <a:prstGeom prst="roundRect">
            <a:avLst>
              <a:gd name="adj" fmla="val 10000"/>
            </a:avLst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886200"/>
            <a:ext cx="4937760" cy="34747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3ED2DC"/>
                </a:solidFill>
                <a:latin typeface="Aptos"/>
              </a:rPr>
              <a:t>HOW TO INTERPRET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370832"/>
            <a:ext cx="9966960" cy="82296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500" b="0">
                <a:solidFill>
                  <a:srgbClr val="F5F8FF"/>
                </a:solidFill>
                <a:latin typeface="Aptos"/>
              </a:rPr>
              <a:t>Compare Order Profit Per Order across delay groups, then check order mix, region, shipping class, and other factors. An association between delay and profit does not prove that delay caused a profit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08 • TURNING ANALYSIS INTO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Business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481328"/>
            <a:ext cx="10698480" cy="704088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502920" cy="43891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3ED2D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545336"/>
            <a:ext cx="2880360" cy="5029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Validate KPI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45336"/>
            <a:ext cx="6492240" cy="53035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Reconcile date-based delay with Delivery Status and Late_delivery_risk.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340864"/>
            <a:ext cx="10698480" cy="704088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32304"/>
            <a:ext cx="502920" cy="43891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3ED2DC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404872"/>
            <a:ext cx="2880360" cy="5029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Investigate high-delay 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04872"/>
            <a:ext cx="6492240" cy="53035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Recompute region, shipping mode, payment and department rates with group sizes.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00400"/>
            <a:ext cx="10698480" cy="704088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502920" cy="43891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3ED2DC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264408"/>
            <a:ext cx="2880360" cy="5029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Review schedule promises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64408"/>
            <a:ext cx="6492240" cy="53035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Compare promised shipping days with observed elapsed days before changing expectations.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059935"/>
            <a:ext cx="10698480" cy="704088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151375"/>
            <a:ext cx="502920" cy="43891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3ED2DC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123944"/>
            <a:ext cx="2880360" cy="5029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Track a balanced scorecard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23944"/>
            <a:ext cx="6492240" cy="53035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Monitor delay rate, average delay, segment performance, order profit and customer impact.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919472"/>
            <a:ext cx="10698480" cy="704088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502920" cy="43891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800" b="1">
                <a:solidFill>
                  <a:srgbClr val="3ED2D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983480"/>
            <a:ext cx="2880360" cy="5029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400" b="1">
                <a:solidFill>
                  <a:srgbClr val="F5F8FF"/>
                </a:solidFill>
                <a:latin typeface="Aptos"/>
              </a:rPr>
              <a:t>Test before scaling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6492240" cy="530352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100" b="0">
                <a:solidFill>
                  <a:srgbClr val="AFBED7"/>
                </a:solidFill>
                <a:latin typeface="Aptos"/>
              </a:rPr>
              <a:t>Pilot a targeted improvement and compare outcomes, accounting for seasonality and order mix.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000" b="1">
                <a:solidFill>
                  <a:srgbClr val="3ED2DC"/>
                </a:solidFill>
                <a:latin typeface="Aptos"/>
              </a:rPr>
              <a:t>09 • 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2700" b="1">
                <a:solidFill>
                  <a:srgbClr val="F5F8FF"/>
                </a:solidFill>
                <a:latin typeface="Aptos"/>
              </a:rPr>
              <a:t>Conclusion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207008"/>
            <a:ext cx="731520" cy="54864"/>
          </a:xfrm>
          <a:prstGeom prst="roundRect">
            <a:avLst>
              <a:gd name="adj" fmla="val 10000"/>
            </a:avLst>
          </a:prstGeom>
          <a:solidFill>
            <a:srgbClr val="3E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822960" cy="18288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900" b="0">
                <a:solidFill>
                  <a:srgbClr val="AFBED7"/>
                </a:solidFill>
                <a:latin typeface="Aptos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5486400" cy="45262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3736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3ED2DC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709160" cy="1920240"/>
          </a:xfrm>
          <a:prstGeom prst="rect">
            <a:avLst/>
          </a:prstGeom>
          <a:noFill/>
        </p:spPr>
        <p:txBody>
          <a:bodyPr wrap="square" lIns="45720" tIns="27432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The latest KPI output indicates that 56.13% of 34,727 analyzed orders are classified as late by the notebook’s calculated delay measure. Validate supporting breakdowns and financial definitions before making operational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937760"/>
            <a:ext cx="4754880" cy="45720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AFBED7"/>
                </a:solidFill>
                <a:latin typeface="Aptos"/>
              </a:rPr>
              <a:t>Tools: Python • Pandas • NumPy • Matplotlib • Seaborn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463040"/>
            <a:ext cx="5138928" cy="4526280"/>
          </a:xfrm>
          <a:prstGeom prst="roundRect">
            <a:avLst>
              <a:gd name="adj" fmla="val 10000"/>
            </a:avLst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173736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200" b="1">
                <a:solidFill>
                  <a:srgbClr val="FFBE5A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176272"/>
            <a:ext cx="4434840" cy="30632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Delay is calculated from parsed dates minus scheduled days.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Non-late includes early shipments.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Profit total may not equal net profit.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Delayed-order profit value is not causal loss.</a:t>
            </a:r>
          </a:p>
          <a:p>
            <a:pPr>
              <a:spcAft>
                <a:spcPts val="1000"/>
              </a:spcAft>
              <a:defRPr sz="1200">
                <a:solidFill>
                  <a:srgbClr val="F5F8FF"/>
                </a:solidFill>
                <a:latin typeface="Aptos"/>
              </a:defRPr>
            </a:pPr>
            <a:r>
              <a:t>•  Previously observed distributions/segment rates need recalculation on the current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36208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l"/>
            <a:r>
              <a:rPr sz="1300" b="1">
                <a:solidFill>
                  <a:srgbClr val="3ED2DC"/>
                </a:solidFill>
                <a:latin typeface="Aptos"/>
              </a:rPr>
              <a:t>Thank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236208"/>
            <a:ext cx="4114800" cy="274320"/>
          </a:xfrm>
          <a:prstGeom prst="rect">
            <a:avLst/>
          </a:prstGeom>
          <a:noFill/>
        </p:spPr>
        <p:txBody>
          <a:bodyPr wrap="square" lIns="45720" tIns="27432" rIns="45720" bIns="18288" anchor="ctr">
            <a:spAutoFit/>
          </a:bodyPr>
          <a:lstStyle/>
          <a:p>
            <a:pPr algn="r"/>
            <a:r>
              <a:rPr sz="1000" b="0">
                <a:solidFill>
                  <a:srgbClr val="AFBED7"/>
                </a:solidFill>
                <a:latin typeface="Aptos"/>
              </a:rPr>
              <a:t>Supply Chain Analysis • Portfolio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790</Words>
  <Application>Microsoft Office PowerPoint</Application>
  <PresentationFormat>Widescreen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APOORVA JALIMINCHI</cp:lastModifiedBy>
  <cp:revision>2</cp:revision>
  <dcterms:created xsi:type="dcterms:W3CDTF">2013-01-27T09:14:16Z</dcterms:created>
  <dcterms:modified xsi:type="dcterms:W3CDTF">2026-10-04T13:53:23Z</dcterms:modified>
  <cp:category/>
</cp:coreProperties>
</file>